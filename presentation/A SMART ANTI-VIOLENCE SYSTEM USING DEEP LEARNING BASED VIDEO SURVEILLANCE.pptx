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6" r:id="rId3"/>
    <p:sldId id="257" r:id="rId4"/>
    <p:sldId id="264" r:id="rId5"/>
    <p:sldId id="267" r:id="rId6"/>
    <p:sldId id="268" r:id="rId7"/>
    <p:sldId id="269" r:id="rId8"/>
    <p:sldId id="270" r:id="rId9"/>
    <p:sldId id="271" r:id="rId10"/>
    <p:sldId id="258" r:id="rId11"/>
    <p:sldId id="265" r:id="rId12"/>
    <p:sldId id="259" r:id="rId13"/>
    <p:sldId id="260" r:id="rId14"/>
    <p:sldId id="273" r:id="rId15"/>
    <p:sldId id="261" r:id="rId16"/>
    <p:sldId id="262" r:id="rId17"/>
    <p:sldId id="272" r:id="rId18"/>
    <p:sldId id="263"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2C71-6075-FCBD-90B6-990EF75353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FC362B-8CFC-89B5-BB21-F4B8F5578D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B26EDBC-EE60-4BF8-7E77-99A559E330BC}"/>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5" name="Footer Placeholder 4">
            <a:extLst>
              <a:ext uri="{FF2B5EF4-FFF2-40B4-BE49-F238E27FC236}">
                <a16:creationId xmlns:a16="http://schemas.microsoft.com/office/drawing/2014/main" id="{ACEE3173-B93E-0442-93A2-BA24DDDEC8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3427C6-D780-A744-70F1-B08D4E674F7A}"/>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921179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D65A-BFBA-C1CF-CCA1-AED6F9FADF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014368-959D-1C6E-6BCC-7261EDC460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D847A3-864C-EEBD-B461-BE2F21279040}"/>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5" name="Footer Placeholder 4">
            <a:extLst>
              <a:ext uri="{FF2B5EF4-FFF2-40B4-BE49-F238E27FC236}">
                <a16:creationId xmlns:a16="http://schemas.microsoft.com/office/drawing/2014/main" id="{587BE411-0FB8-5094-ADFD-9DBCE01889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B4F149-46D6-4767-10F7-6714139B4C8D}"/>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3904042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0052-6411-8AAF-280C-CBF3662B60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40DAD7-D4E3-0514-588F-58FE0E4E7B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FC163D-3204-0007-3664-22FBF1B55CBF}"/>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5" name="Footer Placeholder 4">
            <a:extLst>
              <a:ext uri="{FF2B5EF4-FFF2-40B4-BE49-F238E27FC236}">
                <a16:creationId xmlns:a16="http://schemas.microsoft.com/office/drawing/2014/main" id="{BE25E890-30B2-EA1A-E612-3435F5DAF3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9CEB67-C9FA-E9AC-1EC5-59ED8788569C}"/>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3915884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D7EEA-FBF7-5C9D-90ED-F06007E2C4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4FA2ED-F1AE-F599-29F4-151B47279C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224F39-9AC6-7B7B-7852-2713D5A29D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AD20B78-E3EE-96D5-3BC1-7A7ABEB936CF}"/>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6" name="Footer Placeholder 5">
            <a:extLst>
              <a:ext uri="{FF2B5EF4-FFF2-40B4-BE49-F238E27FC236}">
                <a16:creationId xmlns:a16="http://schemas.microsoft.com/office/drawing/2014/main" id="{9976B406-DE12-359C-1859-0ED0FBC9C6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9006AD-305F-4782-6361-86726EE3B59E}"/>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774982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E1412-067F-8998-4825-653F0EE325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AA7E60-71BA-BA99-37BB-9F40A8312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94D4E4-F86C-6FE9-0B9B-A23CCD2DA0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C423FE-4BDF-446F-04C8-CD6F6D2491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AAC6B8-0F57-3C3E-4A05-91794575E4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6A5966-3DE2-9017-8498-264A3526F511}"/>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8" name="Footer Placeholder 7">
            <a:extLst>
              <a:ext uri="{FF2B5EF4-FFF2-40B4-BE49-F238E27FC236}">
                <a16:creationId xmlns:a16="http://schemas.microsoft.com/office/drawing/2014/main" id="{8E911119-CC68-BFED-59E8-7AA24D5129B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DA20EA-EA3C-0EEA-E48B-9E2453673088}"/>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334727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AD909-D25D-8E87-F80C-4497EBD9D4D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5130785-FB51-82CF-6103-A6E56865F861}"/>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4" name="Footer Placeholder 3">
            <a:extLst>
              <a:ext uri="{FF2B5EF4-FFF2-40B4-BE49-F238E27FC236}">
                <a16:creationId xmlns:a16="http://schemas.microsoft.com/office/drawing/2014/main" id="{6E2B0CBC-0B6A-0F80-012E-08E2222849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036A28-8FE9-C451-B174-2AE59E928665}"/>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973820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16EC95-6E9F-78C7-8124-3B6FCFEF5A1C}"/>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3" name="Footer Placeholder 2">
            <a:extLst>
              <a:ext uri="{FF2B5EF4-FFF2-40B4-BE49-F238E27FC236}">
                <a16:creationId xmlns:a16="http://schemas.microsoft.com/office/drawing/2014/main" id="{F625FD2C-6F1E-A99D-4955-4B8927A313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830DC78-F691-15E2-623F-33B21BACE2A9}"/>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4016167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7160-BF6C-5482-B318-F0F67D8CD5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CE2B08D-8165-41CC-1408-3B78252F03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BD2B6B-A9DF-ECA0-B797-97161DB1BC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B58B4-157A-C6EF-E676-90EFD671C838}"/>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6" name="Footer Placeholder 5">
            <a:extLst>
              <a:ext uri="{FF2B5EF4-FFF2-40B4-BE49-F238E27FC236}">
                <a16:creationId xmlns:a16="http://schemas.microsoft.com/office/drawing/2014/main" id="{51D9BFD3-52C2-5BAD-0703-25D69D93B5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834A59-D395-17A1-E460-A2B08A04281C}"/>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3499222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460D4-81D7-6509-99C0-B7D8FCC89E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8BDD1C-FF79-3062-0531-0E003375BD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D9B4F1-6D14-9AE3-B918-C735D09B1E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8EC43B-DB01-FDFD-6C29-B136ECD51299}"/>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6" name="Footer Placeholder 5">
            <a:extLst>
              <a:ext uri="{FF2B5EF4-FFF2-40B4-BE49-F238E27FC236}">
                <a16:creationId xmlns:a16="http://schemas.microsoft.com/office/drawing/2014/main" id="{F8128C5A-434C-256E-E5CC-EE2DE42CAB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85A783-F0B1-B01C-8A14-2CD94AEA301D}"/>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3472723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05C7D-EA09-292E-EC17-D648732D22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D9FB7F-270A-4CCF-2888-85843691F0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30D74C-2D18-9D79-3A77-9879A93B9439}"/>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5" name="Footer Placeholder 4">
            <a:extLst>
              <a:ext uri="{FF2B5EF4-FFF2-40B4-BE49-F238E27FC236}">
                <a16:creationId xmlns:a16="http://schemas.microsoft.com/office/drawing/2014/main" id="{299A92A5-80A3-ED04-CAD4-07A8493C9E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95CDE4-704B-54E2-7844-9D5C4B844DCD}"/>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2596908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81A51B-C795-B6AD-9DF7-53892D27CD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138872-E5D6-59E5-FE58-2D38092EC3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E2C10F-4C48-20DF-1572-6098A6AE1413}"/>
              </a:ext>
            </a:extLst>
          </p:cNvPr>
          <p:cNvSpPr>
            <a:spLocks noGrp="1"/>
          </p:cNvSpPr>
          <p:nvPr>
            <p:ph type="dt" sz="half" idx="10"/>
          </p:nvPr>
        </p:nvSpPr>
        <p:spPr/>
        <p:txBody>
          <a:bodyPr/>
          <a:lstStyle/>
          <a:p>
            <a:fld id="{AA00DA43-7539-4E5B-A0EC-00DF9DD043CC}" type="datetimeFigureOut">
              <a:rPr lang="en-IN" smtClean="0"/>
              <a:t>24-02-2025</a:t>
            </a:fld>
            <a:endParaRPr lang="en-IN"/>
          </a:p>
        </p:txBody>
      </p:sp>
      <p:sp>
        <p:nvSpPr>
          <p:cNvPr id="5" name="Footer Placeholder 4">
            <a:extLst>
              <a:ext uri="{FF2B5EF4-FFF2-40B4-BE49-F238E27FC236}">
                <a16:creationId xmlns:a16="http://schemas.microsoft.com/office/drawing/2014/main" id="{84F5FC87-6EF9-93C0-8E34-E26C021B3D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972E41-53DC-6719-E4AC-4AC9C4713C56}"/>
              </a:ext>
            </a:extLst>
          </p:cNvPr>
          <p:cNvSpPr>
            <a:spLocks noGrp="1"/>
          </p:cNvSpPr>
          <p:nvPr>
            <p:ph type="sldNum" sz="quarter" idx="12"/>
          </p:nvPr>
        </p:nvSpPr>
        <p:spPr/>
        <p:txBody>
          <a:bodyPr/>
          <a:lstStyle/>
          <a:p>
            <a:fld id="{86CC6C60-60CB-4003-913B-579FDBF826FF}" type="slidenum">
              <a:rPr lang="en-IN" smtClean="0"/>
              <a:t>‹#›</a:t>
            </a:fld>
            <a:endParaRPr lang="en-IN"/>
          </a:p>
        </p:txBody>
      </p:sp>
    </p:spTree>
    <p:extLst>
      <p:ext uri="{BB962C8B-B14F-4D97-AF65-F5344CB8AC3E}">
        <p14:creationId xmlns:p14="http://schemas.microsoft.com/office/powerpoint/2010/main" val="17255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304A1-D157-17C5-9769-50A0BF7E3B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5E7FF4-D09F-5DEB-CC35-A0DF9E5866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2F9DEA-BC7D-A0A2-D381-D4932E77B8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0DA43-7539-4E5B-A0EC-00DF9DD043CC}" type="datetimeFigureOut">
              <a:rPr lang="en-IN" smtClean="0"/>
              <a:t>24-02-2025</a:t>
            </a:fld>
            <a:endParaRPr lang="en-IN"/>
          </a:p>
        </p:txBody>
      </p:sp>
      <p:sp>
        <p:nvSpPr>
          <p:cNvPr id="5" name="Footer Placeholder 4">
            <a:extLst>
              <a:ext uri="{FF2B5EF4-FFF2-40B4-BE49-F238E27FC236}">
                <a16:creationId xmlns:a16="http://schemas.microsoft.com/office/drawing/2014/main" id="{A4AFCE17-3091-43D0-781F-F542CEBB64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6F8DA86-DA85-07C0-1A89-CB4603A6F0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CC6C60-60CB-4003-913B-579FDBF826FF}" type="slidenum">
              <a:rPr lang="en-IN" smtClean="0"/>
              <a:t>‹#›</a:t>
            </a:fld>
            <a:endParaRPr lang="en-IN"/>
          </a:p>
        </p:txBody>
      </p:sp>
    </p:spTree>
    <p:extLst>
      <p:ext uri="{BB962C8B-B14F-4D97-AF65-F5344CB8AC3E}">
        <p14:creationId xmlns:p14="http://schemas.microsoft.com/office/powerpoint/2010/main" val="850787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0" y="1717965"/>
            <a:ext cx="9144000" cy="461665"/>
          </a:xfrm>
          <a:prstGeom prst="rect">
            <a:avLst/>
          </a:prstGeom>
          <a:noFill/>
        </p:spPr>
        <p:txBody>
          <a:bodyPr wrap="square" rtlCol="0">
            <a:spAutoFit/>
          </a:bodyPr>
          <a:lstStyle/>
          <a:p>
            <a:pPr algn="ctr"/>
            <a:r>
              <a:rPr lang="en-US" sz="2400" b="1" dirty="0">
                <a:solidFill>
                  <a:srgbClr val="FF0000"/>
                </a:solidFill>
              </a:rPr>
              <a:t>DEPARTMENT OF ARTIFICIAL INTELLIGENCE AND DATA SCIENCE</a:t>
            </a:r>
          </a:p>
        </p:txBody>
      </p:sp>
      <p:sp>
        <p:nvSpPr>
          <p:cNvPr id="6" name="TextBox 5"/>
          <p:cNvSpPr txBox="1"/>
          <p:nvPr/>
        </p:nvSpPr>
        <p:spPr>
          <a:xfrm>
            <a:off x="2703117" y="2354123"/>
            <a:ext cx="66294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n-US" b="1" dirty="0">
                <a:latin typeface="Times New Roman" panose="02020603050405020304" pitchFamily="18" charset="0"/>
                <a:cs typeface="Times New Roman" panose="02020603050405020304" pitchFamily="18" charset="0"/>
              </a:rPr>
              <a:t>A SMART ANTI-VIOLENCE SYSTEM USING DEEP LEARNING BASED VIDEO SURVEILLANCE</a:t>
            </a:r>
            <a:r>
              <a:rPr lang="en-IN" b="1" dirty="0">
                <a:latin typeface="Times New Roman" panose="02020603050405020304" pitchFamily="18" charset="0"/>
                <a:cs typeface="Times New Roman" panose="02020603050405020304" pitchFamily="18" charset="0"/>
              </a:rPr>
              <a:t> </a:t>
            </a:r>
            <a:endParaRPr lang="en-US" b="1" dirty="0">
              <a:latin typeface="Arial" pitchFamily="34" charset="0"/>
              <a:cs typeface="Arial" pitchFamily="34" charset="0"/>
            </a:endParaRPr>
          </a:p>
        </p:txBody>
      </p:sp>
      <p:sp>
        <p:nvSpPr>
          <p:cNvPr id="8" name="TextBox 7"/>
          <p:cNvSpPr txBox="1"/>
          <p:nvPr/>
        </p:nvSpPr>
        <p:spPr>
          <a:xfrm>
            <a:off x="2902981" y="3433461"/>
            <a:ext cx="6768752" cy="954107"/>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Mrs. Reshma R</a:t>
            </a:r>
          </a:p>
          <a:p>
            <a:pPr algn="ctr"/>
            <a:r>
              <a:rPr lang="en-US" dirty="0">
                <a:latin typeface="Times New Roman" pitchFamily="18" charset="0"/>
                <a:cs typeface="Times New Roman" pitchFamily="18" charset="0"/>
              </a:rPr>
              <a:t>Assistant Professor-CSE(CY)  </a:t>
            </a:r>
          </a:p>
          <a:p>
            <a:pPr algn="ctr"/>
            <a:r>
              <a:rPr lang="en-US" dirty="0">
                <a:latin typeface="Times New Roman" pitchFamily="18" charset="0"/>
                <a:cs typeface="Times New Roman" pitchFamily="18" charset="0"/>
              </a:rPr>
              <a:t>  </a:t>
            </a:r>
            <a:endParaRPr lang="en-US" dirty="0">
              <a:solidFill>
                <a:srgbClr val="FF0000"/>
              </a:solidFill>
              <a:latin typeface="Times New Roman" pitchFamily="18" charset="0"/>
              <a:cs typeface="Times New Roman" pitchFamily="18" charset="0"/>
            </a:endParaRPr>
          </a:p>
        </p:txBody>
      </p:sp>
      <p:sp>
        <p:nvSpPr>
          <p:cNvPr id="11" name="TextBox 10"/>
          <p:cNvSpPr txBox="1"/>
          <p:nvPr/>
        </p:nvSpPr>
        <p:spPr>
          <a:xfrm>
            <a:off x="2703117" y="4121003"/>
            <a:ext cx="7056783" cy="1908215"/>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 Name of the project team with Roll no</a:t>
            </a:r>
            <a:r>
              <a:rPr lang="en-US" dirty="0">
                <a:latin typeface="Arial" pitchFamily="34" charset="0"/>
                <a:cs typeface="Arial" pitchFamily="34" charset="0"/>
              </a:rPr>
              <a:t>:</a:t>
            </a:r>
          </a:p>
          <a:p>
            <a:pPr algn="ctr"/>
            <a:endParaRPr lang="en-US" dirty="0">
              <a:latin typeface="Arial" pitchFamily="34" charset="0"/>
              <a:cs typeface="Arial" pitchFamily="34" charset="0"/>
            </a:endParaRPr>
          </a:p>
          <a:p>
            <a:pPr algn="ctr"/>
            <a:r>
              <a:rPr lang="en-US" sz="2000" dirty="0">
                <a:latin typeface="Times New Roman" panose="02020603050405020304" pitchFamily="18" charset="0"/>
                <a:cs typeface="Times New Roman" panose="02020603050405020304" pitchFamily="18" charset="0"/>
              </a:rPr>
              <a:t>NAFIH MAHMOOD KP-72921243073</a:t>
            </a:r>
          </a:p>
          <a:p>
            <a:pPr algn="ctr"/>
            <a:r>
              <a:rPr lang="en-US" sz="2000" dirty="0">
                <a:latin typeface="Times New Roman" panose="02020603050405020304" pitchFamily="18" charset="0"/>
                <a:cs typeface="Times New Roman" panose="02020603050405020304" pitchFamily="18" charset="0"/>
              </a:rPr>
              <a:t>MUHAMMED AJMAL TT-721921243069  </a:t>
            </a:r>
          </a:p>
          <a:p>
            <a:pPr algn="ctr"/>
            <a:r>
              <a:rPr lang="en-US" sz="2000" dirty="0">
                <a:latin typeface="Times New Roman" panose="02020603050405020304" pitchFamily="18" charset="0"/>
                <a:cs typeface="Times New Roman" panose="02020603050405020304" pitchFamily="18" charset="0"/>
              </a:rPr>
              <a:t>MUHAMMED SINAN TA-721921243070</a:t>
            </a:r>
          </a:p>
          <a:p>
            <a:pPr algn="ctr"/>
            <a:r>
              <a:rPr lang="en-US" sz="2000" dirty="0">
                <a:latin typeface="Times New Roman" panose="02020603050405020304" pitchFamily="18" charset="0"/>
                <a:cs typeface="Times New Roman" panose="02020603050405020304" pitchFamily="18" charset="0"/>
              </a:rPr>
              <a:t>SOORAJ NS-721921243107 </a:t>
            </a:r>
          </a:p>
        </p:txBody>
      </p:sp>
      <p:sp>
        <p:nvSpPr>
          <p:cNvPr id="9" name="Footer Placeholder 8"/>
          <p:cNvSpPr>
            <a:spLocks noGrp="1"/>
          </p:cNvSpPr>
          <p:nvPr>
            <p:ph type="ftr" sz="quarter" idx="11"/>
          </p:nvPr>
        </p:nvSpPr>
        <p:spPr>
          <a:xfrm>
            <a:off x="2726201" y="6400800"/>
            <a:ext cx="6945533" cy="381000"/>
          </a:xfrm>
        </p:spPr>
        <p:txBody>
          <a:bodyPr/>
          <a:lstStyle/>
          <a:p>
            <a:pPr algn="l"/>
            <a:r>
              <a:rPr lang="en-US" sz="1600" dirty="0">
                <a:latin typeface="Arial" pitchFamily="34" charset="0"/>
                <a:cs typeface="Arial" pitchFamily="34" charset="0"/>
              </a:rPr>
              <a:t>Date of Review: 24-02-2025                                                Review </a:t>
            </a:r>
            <a:r>
              <a:rPr lang="en-US" sz="1600" dirty="0" err="1">
                <a:latin typeface="Arial" pitchFamily="34" charset="0"/>
                <a:cs typeface="Arial" pitchFamily="34" charset="0"/>
              </a:rPr>
              <a:t>No:one</a:t>
            </a:r>
            <a:endParaRPr lang="en-US" sz="1600" dirty="0"/>
          </a:p>
        </p:txBody>
      </p:sp>
      <p:pic>
        <p:nvPicPr>
          <p:cNvPr id="14" name="Picture 13" descr="WhatsApp_Image_2024-09-07_at_5.42.49_AM-removebg-preview.png"/>
          <p:cNvPicPr/>
          <p:nvPr/>
        </p:nvPicPr>
        <p:blipFill>
          <a:blip r:embed="rId2">
            <a:grayscl/>
          </a:blip>
          <a:srcRect l="2316"/>
          <a:stretch>
            <a:fillRect/>
          </a:stretch>
        </p:blipFill>
        <p:spPr bwMode="auto">
          <a:xfrm>
            <a:off x="2166910" y="214290"/>
            <a:ext cx="7858180" cy="1285884"/>
          </a:xfrm>
          <a:prstGeom prst="rect">
            <a:avLst/>
          </a:prstGeom>
          <a:noFill/>
          <a:ln w="9525">
            <a:noFill/>
            <a:miter lim="800000"/>
            <a:headEnd/>
            <a:tailEnd/>
          </a:ln>
        </p:spPr>
      </p:pic>
    </p:spTree>
    <p:extLst>
      <p:ext uri="{BB962C8B-B14F-4D97-AF65-F5344CB8AC3E}">
        <p14:creationId xmlns:p14="http://schemas.microsoft.com/office/powerpoint/2010/main" val="1159376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565608791"/>
              </p:ext>
            </p:extLst>
          </p:nvPr>
        </p:nvGraphicFramePr>
        <p:xfrm>
          <a:off x="2035277" y="428988"/>
          <a:ext cx="7794525" cy="4366932"/>
        </p:xfrm>
        <a:graphic>
          <a:graphicData uri="http://schemas.openxmlformats.org/drawingml/2006/table">
            <a:tbl>
              <a:tblPr firstRow="1" bandRow="1">
                <a:tableStyleId>{5C22544A-7EE6-4342-B048-85BDC9FD1C3A}</a:tableStyleId>
              </a:tblPr>
              <a:tblGrid>
                <a:gridCol w="698091">
                  <a:extLst>
                    <a:ext uri="{9D8B030D-6E8A-4147-A177-3AD203B41FA5}">
                      <a16:colId xmlns:a16="http://schemas.microsoft.com/office/drawing/2014/main" val="20000"/>
                    </a:ext>
                  </a:extLst>
                </a:gridCol>
                <a:gridCol w="5533943">
                  <a:extLst>
                    <a:ext uri="{9D8B030D-6E8A-4147-A177-3AD203B41FA5}">
                      <a16:colId xmlns:a16="http://schemas.microsoft.com/office/drawing/2014/main" val="20001"/>
                    </a:ext>
                  </a:extLst>
                </a:gridCol>
                <a:gridCol w="1562491">
                  <a:extLst>
                    <a:ext uri="{9D8B030D-6E8A-4147-A177-3AD203B41FA5}">
                      <a16:colId xmlns:a16="http://schemas.microsoft.com/office/drawing/2014/main" val="20002"/>
                    </a:ext>
                  </a:extLst>
                </a:gridCol>
              </a:tblGrid>
              <a:tr h="502883">
                <a:tc>
                  <a:txBody>
                    <a:bodyPr/>
                    <a:lstStyle/>
                    <a:p>
                      <a:pPr algn="ctr"/>
                      <a:r>
                        <a:rPr lang="en-US" sz="2000" b="1" dirty="0" err="1">
                          <a:latin typeface="Times New Roman" pitchFamily="18" charset="0"/>
                          <a:cs typeface="Times New Roman" pitchFamily="18" charset="0"/>
                        </a:rPr>
                        <a:t>S.No</a:t>
                      </a:r>
                      <a:endParaRPr lang="en-US" sz="2000" b="1" dirty="0">
                        <a:latin typeface="Times New Roman" pitchFamily="18" charset="0"/>
                        <a:cs typeface="Times New Roman" pitchFamily="18" charset="0"/>
                      </a:endParaRPr>
                    </a:p>
                  </a:txBody>
                  <a:tcPr/>
                </a:tc>
                <a:tc>
                  <a:txBody>
                    <a:bodyPr/>
                    <a:lstStyle/>
                    <a:p>
                      <a:pPr algn="ctr"/>
                      <a:r>
                        <a:rPr lang="en-US" sz="2000" b="1" dirty="0">
                          <a:latin typeface="Times New Roman" pitchFamily="18" charset="0"/>
                          <a:cs typeface="Times New Roman" pitchFamily="18" charset="0"/>
                        </a:rPr>
                        <a:t>CONTENT </a:t>
                      </a:r>
                    </a:p>
                  </a:txBody>
                  <a:tcPr/>
                </a:tc>
                <a:tc>
                  <a:txBody>
                    <a:bodyPr/>
                    <a:lstStyle/>
                    <a:p>
                      <a:pPr algn="ctr"/>
                      <a:r>
                        <a:rPr lang="en-US" sz="2000" b="1" dirty="0">
                          <a:latin typeface="Times New Roman" pitchFamily="18" charset="0"/>
                          <a:cs typeface="Times New Roman" pitchFamily="18" charset="0"/>
                        </a:rPr>
                        <a:t>SLIDE</a:t>
                      </a:r>
                      <a:r>
                        <a:rPr lang="en-US" sz="2000" b="1" baseline="0" dirty="0">
                          <a:latin typeface="Times New Roman" pitchFamily="18" charset="0"/>
                          <a:cs typeface="Times New Roman" pitchFamily="18" charset="0"/>
                        </a:rPr>
                        <a:t> NO.</a:t>
                      </a:r>
                      <a:endParaRPr lang="en-US" sz="2000" b="1"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502883">
                <a:tc>
                  <a:txBody>
                    <a:bodyPr/>
                    <a:lstStyle/>
                    <a:p>
                      <a:pPr algn="ctr"/>
                      <a:r>
                        <a:rPr lang="en-US" sz="2000" b="1" dirty="0">
                          <a:latin typeface="Times New Roman" pitchFamily="18" charset="0"/>
                          <a:cs typeface="Times New Roman" pitchFamily="18" charset="0"/>
                        </a:rPr>
                        <a:t>1.</a:t>
                      </a:r>
                    </a:p>
                  </a:txBody>
                  <a:tcPr/>
                </a:tc>
                <a:tc>
                  <a:txBody>
                    <a:bodyPr/>
                    <a:lstStyle/>
                    <a:p>
                      <a:r>
                        <a:rPr lang="en-US" sz="2000" b="1" kern="1200" dirty="0">
                          <a:solidFill>
                            <a:schemeClr val="dk1"/>
                          </a:solidFill>
                          <a:effectLst/>
                          <a:latin typeface="Times New Roman" pitchFamily="18" charset="0"/>
                          <a:ea typeface="+mn-ea"/>
                          <a:cs typeface="Times New Roman" pitchFamily="18" charset="0"/>
                        </a:rPr>
                        <a:t>INTRODUCTION</a:t>
                      </a:r>
                      <a:endParaRPr lang="en-US" sz="2000" b="1" dirty="0">
                        <a:latin typeface="Times New Roman" pitchFamily="18" charset="0"/>
                        <a:cs typeface="Times New Roman" pitchFamily="18" charset="0"/>
                      </a:endParaRPr>
                    </a:p>
                  </a:txBody>
                  <a:tcPr/>
                </a:tc>
                <a:tc>
                  <a:txBody>
                    <a:bodyPr/>
                    <a:lstStyle/>
                    <a:p>
                      <a:r>
                        <a:rPr lang="en-US" sz="2000" b="1" dirty="0">
                          <a:latin typeface="Times New Roman" pitchFamily="18" charset="0"/>
                          <a:cs typeface="Times New Roman" pitchFamily="18" charset="0"/>
                        </a:rPr>
                        <a:t>      03</a:t>
                      </a:r>
                    </a:p>
                  </a:txBody>
                  <a:tcPr/>
                </a:tc>
                <a:extLst>
                  <a:ext uri="{0D108BD9-81ED-4DB2-BD59-A6C34878D82A}">
                    <a16:rowId xmlns:a16="http://schemas.microsoft.com/office/drawing/2014/main" val="10001"/>
                  </a:ext>
                </a:extLst>
              </a:tr>
              <a:tr h="502883">
                <a:tc>
                  <a:txBody>
                    <a:bodyPr/>
                    <a:lstStyle/>
                    <a:p>
                      <a:pPr algn="ctr"/>
                      <a:r>
                        <a:rPr lang="en-US" sz="2000" b="1" dirty="0">
                          <a:latin typeface="Times New Roman" pitchFamily="18" charset="0"/>
                          <a:cs typeface="Times New Roman" pitchFamily="18" charset="0"/>
                        </a:rPr>
                        <a:t>2.</a:t>
                      </a:r>
                    </a:p>
                  </a:txBody>
                  <a:tcPr/>
                </a:tc>
                <a:tc>
                  <a:txBody>
                    <a:bodyPr/>
                    <a:lstStyle/>
                    <a:p>
                      <a:r>
                        <a:rPr lang="en-US" sz="2000" b="1" kern="1200" dirty="0">
                          <a:solidFill>
                            <a:schemeClr val="dk1"/>
                          </a:solidFill>
                          <a:effectLst/>
                          <a:latin typeface="Times New Roman" pitchFamily="18" charset="0"/>
                          <a:ea typeface="+mn-ea"/>
                          <a:cs typeface="Times New Roman" pitchFamily="18" charset="0"/>
                        </a:rPr>
                        <a:t>LITERATURE SURVEY</a:t>
                      </a:r>
                      <a:endParaRPr lang="en-US" sz="2000" b="1" dirty="0">
                        <a:latin typeface="Times New Roman" pitchFamily="18" charset="0"/>
                        <a:cs typeface="Times New Roman" pitchFamily="18" charset="0"/>
                      </a:endParaRPr>
                    </a:p>
                  </a:txBody>
                  <a:tcPr/>
                </a:tc>
                <a:tc>
                  <a:txBody>
                    <a:bodyPr/>
                    <a:lstStyle/>
                    <a:p>
                      <a:r>
                        <a:rPr lang="en-US" sz="2000" b="1" dirty="0">
                          <a:latin typeface="Times New Roman" pitchFamily="18" charset="0"/>
                          <a:cs typeface="Times New Roman" pitchFamily="18" charset="0"/>
                        </a:rPr>
                        <a:t>    </a:t>
                      </a:r>
                      <a:r>
                        <a:rPr lang="en-US" sz="2000" b="1" baseline="0" dirty="0">
                          <a:latin typeface="Times New Roman" pitchFamily="18" charset="0"/>
                          <a:cs typeface="Times New Roman" pitchFamily="18" charset="0"/>
                        </a:rPr>
                        <a:t> 05</a:t>
                      </a:r>
                      <a:endParaRPr lang="en-US" sz="2000" b="1"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502883">
                <a:tc>
                  <a:txBody>
                    <a:bodyPr/>
                    <a:lstStyle/>
                    <a:p>
                      <a:pPr algn="ctr"/>
                      <a:r>
                        <a:rPr lang="en-US" sz="2000" b="1" dirty="0">
                          <a:latin typeface="Times New Roman" pitchFamily="18" charset="0"/>
                          <a:cs typeface="Times New Roman" pitchFamily="18" charset="0"/>
                        </a:rPr>
                        <a:t> 3.</a:t>
                      </a:r>
                    </a:p>
                  </a:txBody>
                  <a:tcPr/>
                </a:tc>
                <a:tc>
                  <a:txBody>
                    <a:bodyPr/>
                    <a:lstStyle/>
                    <a:p>
                      <a:r>
                        <a:rPr lang="en-US" sz="2000" b="1" dirty="0">
                          <a:latin typeface="Times New Roman" pitchFamily="18" charset="0"/>
                          <a:cs typeface="Times New Roman" pitchFamily="18" charset="0"/>
                        </a:rPr>
                        <a:t>PROBLEM IDENTIFICATION</a:t>
                      </a:r>
                    </a:p>
                  </a:txBody>
                  <a:tcPr/>
                </a:tc>
                <a:tc>
                  <a:txBody>
                    <a:bodyPr/>
                    <a:lstStyle/>
                    <a:p>
                      <a:r>
                        <a:rPr lang="en-US" sz="2000" b="1" dirty="0">
                          <a:latin typeface="Times New Roman" pitchFamily="18" charset="0"/>
                          <a:cs typeface="Times New Roman" pitchFamily="18" charset="0"/>
                        </a:rPr>
                        <a:t>     10</a:t>
                      </a:r>
                    </a:p>
                  </a:txBody>
                  <a:tcPr/>
                </a:tc>
                <a:extLst>
                  <a:ext uri="{0D108BD9-81ED-4DB2-BD59-A6C34878D82A}">
                    <a16:rowId xmlns:a16="http://schemas.microsoft.com/office/drawing/2014/main" val="10003"/>
                  </a:ext>
                </a:extLst>
              </a:tr>
              <a:tr h="502883">
                <a:tc>
                  <a:txBody>
                    <a:bodyPr/>
                    <a:lstStyle/>
                    <a:p>
                      <a:pPr algn="ctr"/>
                      <a:r>
                        <a:rPr lang="en-US" sz="2000" b="1" dirty="0">
                          <a:latin typeface="Times New Roman" pitchFamily="18" charset="0"/>
                          <a:cs typeface="Times New Roman" pitchFamily="18" charset="0"/>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Times New Roman" pitchFamily="18" charset="0"/>
                          <a:ea typeface="+mn-ea"/>
                          <a:cs typeface="Times New Roman" pitchFamily="18" charset="0"/>
                        </a:rPr>
                        <a:t>AIM OF THE PROJECT</a:t>
                      </a:r>
                    </a:p>
                  </a:txBody>
                  <a:tcPr/>
                </a:tc>
                <a:tc>
                  <a:txBody>
                    <a:bodyPr/>
                    <a:lstStyle/>
                    <a:p>
                      <a:r>
                        <a:rPr lang="en-US" sz="2000" b="1" dirty="0">
                          <a:latin typeface="Times New Roman" pitchFamily="18" charset="0"/>
                          <a:cs typeface="Times New Roman" pitchFamily="18" charset="0"/>
                        </a:rPr>
                        <a:t>      12</a:t>
                      </a:r>
                    </a:p>
                  </a:txBody>
                  <a:tcPr/>
                </a:tc>
                <a:extLst>
                  <a:ext uri="{0D108BD9-81ED-4DB2-BD59-A6C34878D82A}">
                    <a16:rowId xmlns:a16="http://schemas.microsoft.com/office/drawing/2014/main" val="10004"/>
                  </a:ext>
                </a:extLst>
              </a:tr>
              <a:tr h="413590">
                <a:tc>
                  <a:txBody>
                    <a:bodyPr/>
                    <a:lstStyle/>
                    <a:p>
                      <a:pPr algn="ctr"/>
                      <a:r>
                        <a:rPr lang="en-US" sz="2000" b="1" dirty="0">
                          <a:latin typeface="Times New Roman" pitchFamily="18" charset="0"/>
                          <a:cs typeface="Times New Roman"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Times New Roman" pitchFamily="18" charset="0"/>
                          <a:ea typeface="+mn-ea"/>
                          <a:cs typeface="Times New Roman" pitchFamily="18" charset="0"/>
                        </a:rPr>
                        <a:t>OBJECTIVE</a:t>
                      </a:r>
                    </a:p>
                  </a:txBody>
                  <a:tcPr/>
                </a:tc>
                <a:tc>
                  <a:txBody>
                    <a:bodyPr/>
                    <a:lstStyle/>
                    <a:p>
                      <a:r>
                        <a:rPr lang="en-US" sz="2000" b="1" dirty="0">
                          <a:latin typeface="Times New Roman" pitchFamily="18" charset="0"/>
                          <a:cs typeface="Times New Roman" pitchFamily="18" charset="0"/>
                        </a:rPr>
                        <a:t>      13</a:t>
                      </a:r>
                    </a:p>
                  </a:txBody>
                  <a:tcPr/>
                </a:tc>
                <a:extLst>
                  <a:ext uri="{0D108BD9-81ED-4DB2-BD59-A6C34878D82A}">
                    <a16:rowId xmlns:a16="http://schemas.microsoft.com/office/drawing/2014/main" val="10005"/>
                  </a:ext>
                </a:extLst>
              </a:tr>
              <a:tr h="413590">
                <a:tc>
                  <a:txBody>
                    <a:bodyPr/>
                    <a:lstStyle/>
                    <a:p>
                      <a:pPr algn="ctr"/>
                      <a:r>
                        <a:rPr lang="en-US" sz="2000" b="1" dirty="0">
                          <a:latin typeface="Times New Roman" pitchFamily="18" charset="0"/>
                          <a:cs typeface="Times New Roman"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Times New Roman" pitchFamily="18" charset="0"/>
                          <a:ea typeface="+mn-ea"/>
                          <a:cs typeface="Times New Roman" pitchFamily="18" charset="0"/>
                        </a:rPr>
                        <a:t>PROPOSED METHODOLOGY</a:t>
                      </a:r>
                    </a:p>
                  </a:txBody>
                  <a:tcPr/>
                </a:tc>
                <a:tc>
                  <a:txBody>
                    <a:bodyPr/>
                    <a:lstStyle/>
                    <a:p>
                      <a:r>
                        <a:rPr lang="en-US" sz="2000" b="1" dirty="0">
                          <a:latin typeface="Times New Roman" pitchFamily="18" charset="0"/>
                          <a:cs typeface="Times New Roman" pitchFamily="18" charset="0"/>
                        </a:rPr>
                        <a:t>      14</a:t>
                      </a:r>
                    </a:p>
                  </a:txBody>
                  <a:tcPr/>
                </a:tc>
                <a:extLst>
                  <a:ext uri="{0D108BD9-81ED-4DB2-BD59-A6C34878D82A}">
                    <a16:rowId xmlns:a16="http://schemas.microsoft.com/office/drawing/2014/main" val="1255583545"/>
                  </a:ext>
                </a:extLst>
              </a:tr>
              <a:tr h="413590">
                <a:tc>
                  <a:txBody>
                    <a:bodyPr/>
                    <a:lstStyle/>
                    <a:p>
                      <a:pPr algn="ctr"/>
                      <a:r>
                        <a:rPr lang="en-US" sz="2000" b="1" dirty="0">
                          <a:latin typeface="Times New Roman" pitchFamily="18" charset="0"/>
                          <a:cs typeface="Times New Roman"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Times New Roman" pitchFamily="18" charset="0"/>
                          <a:ea typeface="+mn-ea"/>
                          <a:cs typeface="Times New Roman" pitchFamily="18" charset="0"/>
                        </a:rPr>
                        <a:t>SYSTEM ARCHITECTURE</a:t>
                      </a:r>
                    </a:p>
                  </a:txBody>
                  <a:tcPr/>
                </a:tc>
                <a:tc>
                  <a:txBody>
                    <a:bodyPr/>
                    <a:lstStyle/>
                    <a:p>
                      <a:r>
                        <a:rPr lang="en-US" sz="2000" b="1" dirty="0">
                          <a:latin typeface="Times New Roman" pitchFamily="18" charset="0"/>
                          <a:cs typeface="Times New Roman" pitchFamily="18" charset="0"/>
                        </a:rPr>
                        <a:t>      17</a:t>
                      </a:r>
                    </a:p>
                  </a:txBody>
                  <a:tcPr/>
                </a:tc>
                <a:extLst>
                  <a:ext uri="{0D108BD9-81ED-4DB2-BD59-A6C34878D82A}">
                    <a16:rowId xmlns:a16="http://schemas.microsoft.com/office/drawing/2014/main" val="1168764569"/>
                  </a:ext>
                </a:extLst>
              </a:tr>
              <a:tr h="413590">
                <a:tc>
                  <a:txBody>
                    <a:bodyPr/>
                    <a:lstStyle/>
                    <a:p>
                      <a:pPr algn="ctr"/>
                      <a:r>
                        <a:rPr lang="en-US" sz="2000" b="1" dirty="0">
                          <a:latin typeface="Times New Roman" pitchFamily="18" charset="0"/>
                          <a:cs typeface="Times New Roman" pitchFamily="18" charset="0"/>
                        </a:rPr>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dk1"/>
                          </a:solidFill>
                          <a:latin typeface="Times New Roman" pitchFamily="18" charset="0"/>
                          <a:ea typeface="+mn-ea"/>
                          <a:cs typeface="Times New Roman" pitchFamily="18" charset="0"/>
                        </a:rPr>
                        <a:t>EXPECTED OUTCOME</a:t>
                      </a:r>
                    </a:p>
                  </a:txBody>
                  <a:tcPr/>
                </a:tc>
                <a:tc>
                  <a:txBody>
                    <a:bodyPr/>
                    <a:lstStyle/>
                    <a:p>
                      <a:r>
                        <a:rPr lang="en-US" sz="2000" b="1" dirty="0">
                          <a:latin typeface="Times New Roman" pitchFamily="18" charset="0"/>
                          <a:cs typeface="Times New Roman" pitchFamily="18" charset="0"/>
                        </a:rPr>
                        <a:t>      18</a:t>
                      </a:r>
                    </a:p>
                  </a:txBody>
                  <a:tcPr/>
                </a:tc>
                <a:extLst>
                  <a:ext uri="{0D108BD9-81ED-4DB2-BD59-A6C34878D82A}">
                    <a16:rowId xmlns:a16="http://schemas.microsoft.com/office/drawing/2014/main" val="4179148348"/>
                  </a:ext>
                </a:extLst>
              </a:tr>
            </a:tbl>
          </a:graphicData>
        </a:graphic>
      </p:graphicFrame>
      <p:sp>
        <p:nvSpPr>
          <p:cNvPr id="4" name="Footer Placeholder 3"/>
          <p:cNvSpPr>
            <a:spLocks noGrp="1"/>
          </p:cNvSpPr>
          <p:nvPr>
            <p:ph type="ftr" sz="quarter" idx="11"/>
          </p:nvPr>
        </p:nvSpPr>
        <p:spPr/>
        <p:txBody>
          <a:bodyPr/>
          <a:lstStyle/>
          <a:p>
            <a:r>
              <a:rPr lang="en-US"/>
              <a:t>Date of Review:                           Review No.</a:t>
            </a:r>
          </a:p>
        </p:txBody>
      </p:sp>
      <p:sp>
        <p:nvSpPr>
          <p:cNvPr id="5" name="Slide Number Placeholder 4"/>
          <p:cNvSpPr>
            <a:spLocks noGrp="1"/>
          </p:cNvSpPr>
          <p:nvPr>
            <p:ph type="sldNum" sz="quarter" idx="12"/>
          </p:nvPr>
        </p:nvSpPr>
        <p:spPr/>
        <p:txBody>
          <a:bodyPr/>
          <a:lstStyle/>
          <a:p>
            <a:fld id="{3A32A980-E953-4767-8F5D-5B2736C63DBF}" type="slidenum">
              <a:rPr lang="en-US" smtClean="0"/>
              <a:pPr/>
              <a:t>2</a:t>
            </a:fld>
            <a:endParaRPr lang="en-US"/>
          </a:p>
        </p:txBody>
      </p:sp>
    </p:spTree>
    <p:extLst>
      <p:ext uri="{BB962C8B-B14F-4D97-AF65-F5344CB8AC3E}">
        <p14:creationId xmlns:p14="http://schemas.microsoft.com/office/powerpoint/2010/main" val="1397062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F4DFA-0529-FB4A-F728-7A92A6A9A5A7}"/>
              </a:ext>
            </a:extLst>
          </p:cNvPr>
          <p:cNvSpPr>
            <a:spLocks noGrp="1"/>
          </p:cNvSpPr>
          <p:nvPr>
            <p:ph type="title"/>
          </p:nvPr>
        </p:nvSpPr>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INTRODUCTION</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96836E-DFC4-BF61-2028-9AECD547C369}"/>
              </a:ext>
            </a:extLst>
          </p:cNvPr>
          <p:cNvSpPr>
            <a:spLocks noGrp="1"/>
          </p:cNvSpPr>
          <p:nvPr>
            <p:ph idx="1"/>
          </p:nvPr>
        </p:nvSpPr>
        <p:spPr>
          <a:xfrm>
            <a:off x="838200" y="1690688"/>
            <a:ext cx="10515600" cy="4980960"/>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	In recent years, human action recognition has seen significant advancements, particularly in the field of computer vision. One of the most challenging applications within this domain is violence detection. This technology plays a crucial role in ensuring public safety by identifying violent incidents in surveillance footage from public spaces, private properties, and other monitored environments. The growing need for automation arises due to the increasing volume of surveillance data that makes manual monitoring both impractical and prone to errors.</a:t>
            </a:r>
          </a:p>
          <a:p>
            <a:pPr marL="0" indent="0" algn="just">
              <a:lnSpc>
                <a:spcPct val="150000"/>
              </a:lnSpc>
              <a:buNone/>
            </a:pPr>
            <a:r>
              <a:rPr lang="en-US" sz="1100" b="1" dirty="0">
                <a:latin typeface="Times New Roman" panose="02020603050405020304" pitchFamily="18" charset="0"/>
                <a:cs typeface="Times New Roman" panose="02020603050405020304" pitchFamily="18" charset="0"/>
              </a:rPr>
              <a:t>A SMART ANTI-VIOLENCE SYSTEM USING DEEP LEARNING BASED VIDEO SURVEILLANCE</a:t>
            </a:r>
            <a:r>
              <a:rPr lang="en-IN" sz="11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can significantly reduce the dependency on human operators, who often struggle with fatigue and the inability to monitor multiple screens effectively for extended periods. These systems ensure a rapid response to violent incidents, potentially saving lives and reducing damage. With the rise of artificial intelligence and deep learning, new techniques have emerged that improve the accuracy and efficiency of violence detection systems.</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933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8BDB-455C-9866-61C4-90DD49B2D9F8}"/>
              </a:ext>
            </a:extLst>
          </p:cNvPr>
          <p:cNvSpPr>
            <a:spLocks noGrp="1"/>
          </p:cNvSpPr>
          <p:nvPr>
            <p:ph type="title"/>
          </p:nvPr>
        </p:nvSpPr>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INTRODUCTION</a:t>
            </a:r>
            <a:endParaRPr lang="en-IN" sz="2400" dirty="0">
              <a:solidFill>
                <a:srgbClr val="FF0000"/>
              </a:solidFill>
            </a:endParaRPr>
          </a:p>
        </p:txBody>
      </p:sp>
      <p:sp>
        <p:nvSpPr>
          <p:cNvPr id="3" name="Content Placeholder 2">
            <a:extLst>
              <a:ext uri="{FF2B5EF4-FFF2-40B4-BE49-F238E27FC236}">
                <a16:creationId xmlns:a16="http://schemas.microsoft.com/office/drawing/2014/main" id="{915B8573-B05A-E9CD-C994-4B961F93E7EF}"/>
              </a:ext>
            </a:extLst>
          </p:cNvPr>
          <p:cNvSpPr>
            <a:spLocks noGrp="1"/>
          </p:cNvSpPr>
          <p:nvPr>
            <p:ph idx="1"/>
          </p:nvPr>
        </p:nvSpPr>
        <p:spPr>
          <a:xfrm>
            <a:off x="838200" y="1690688"/>
            <a:ext cx="10515600" cy="4802187"/>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This project proposes a solution using advanced machine learning models such as you only look once(YOLO), Long Short-Term Memory (LSTM) and Bidirectional LSTM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with an attention mechanism. These models are designed to process sequential data effectively, capturing temporal dependencies in video frames, which is critical for identifying violent actions.</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A novel dataset was compiled for this project, combining surveillance footage and publicly available videos from platforms like YouTube and Facebook. The models were tested on established datasets, including the Hockey Fight dataset, showcasing their ability to recognize violence in diverse crowd scenarios with high accuracy.</a:t>
            </a: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KEYWORDS: YOLO,LSTM</a:t>
            </a:r>
          </a:p>
        </p:txBody>
      </p:sp>
    </p:spTree>
    <p:extLst>
      <p:ext uri="{BB962C8B-B14F-4D97-AF65-F5344CB8AC3E}">
        <p14:creationId xmlns:p14="http://schemas.microsoft.com/office/powerpoint/2010/main" val="221337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379AD-F71C-3673-DD42-4CBE2EE72130}"/>
              </a:ext>
            </a:extLst>
          </p:cNvPr>
          <p:cNvSpPr>
            <a:spLocks noGrp="1"/>
          </p:cNvSpPr>
          <p:nvPr>
            <p:ph type="title"/>
          </p:nvPr>
        </p:nvSpPr>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LITERATURE</a:t>
            </a:r>
            <a:r>
              <a:rPr lang="en-US" sz="2400" b="1"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SURVEY</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3777DD-B431-A10A-A372-FB977A2BC74F}"/>
              </a:ext>
            </a:extLst>
          </p:cNvPr>
          <p:cNvSpPr>
            <a:spLocks noGrp="1"/>
          </p:cNvSpPr>
          <p:nvPr>
            <p:ph idx="1"/>
          </p:nvPr>
        </p:nvSpPr>
        <p:spPr/>
        <p:txBody>
          <a:bodyPr>
            <a:normAutofit/>
          </a:bodyPr>
          <a:lstStyle/>
          <a:p>
            <a:pPr marL="0" indent="0">
              <a:lnSpc>
                <a:spcPct val="150000"/>
              </a:lnSpc>
              <a:buNone/>
            </a:pPr>
            <a:r>
              <a:rPr lang="en-US" sz="1600" b="1" dirty="0">
                <a:latin typeface="Times New Roman" panose="02020603050405020304" pitchFamily="18" charset="0"/>
                <a:cs typeface="Times New Roman" panose="02020603050405020304" pitchFamily="18" charset="0"/>
              </a:rPr>
              <a:t>1. Title:</a:t>
            </a:r>
            <a:r>
              <a:rPr lang="en-US" sz="1600" dirty="0">
                <a:latin typeface="Times New Roman" panose="02020603050405020304" pitchFamily="18" charset="0"/>
                <a:cs typeface="Times New Roman" panose="02020603050405020304" pitchFamily="18" charset="0"/>
              </a:rPr>
              <a:t> Deep Learning Techniques for Predictive Maintenance: A Comprehensive Survey</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Andrew T. Miller, Sophia L. Carter, Benjamin R. Wilson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2020</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cs typeface="Times New Roman" panose="02020603050405020304" pitchFamily="18" charset="0"/>
              </a:rPr>
              <a:t> This paper presents an extensive review of deep learning methods applied to predictive maintenance in industrial environments. The study focuses on architectures such as Convolutional Neural Networks (CNNs), Long Short-Term Memory (LSTM) networks, and Autoencoders for fault detection and equipment health monitoring. The authors highlight how deep learning models can handle complex data patterns from industrial sensors, improving failure prediction accuracy. The research concludes that deep learning significantly enhances the predictive power of maintenance systems by automatically extracting features from large datasets and enabling real-time fault detection.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617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1B6586-94B1-D883-1909-019CF196BB88}"/>
              </a:ext>
            </a:extLst>
          </p:cNvPr>
          <p:cNvSpPr>
            <a:spLocks noGrp="1"/>
          </p:cNvSpPr>
          <p:nvPr>
            <p:ph idx="1"/>
          </p:nvPr>
        </p:nvSpPr>
        <p:spPr>
          <a:xfrm>
            <a:off x="838200" y="1427419"/>
            <a:ext cx="10515600" cy="4351338"/>
          </a:xfrm>
        </p:spPr>
        <p:txBody>
          <a:bodyPr>
            <a:normAutofit/>
          </a:bodyPr>
          <a:lstStyle/>
          <a:p>
            <a:pPr marL="0" indent="0">
              <a:lnSpc>
                <a:spcPct val="150000"/>
              </a:lnSpc>
              <a:buNone/>
            </a:pPr>
            <a:r>
              <a:rPr lang="en-US" sz="1600" b="1" dirty="0">
                <a:latin typeface="Times New Roman" panose="02020603050405020304" pitchFamily="18" charset="0"/>
                <a:cs typeface="Times New Roman" panose="02020603050405020304" pitchFamily="18" charset="0"/>
              </a:rPr>
              <a:t>2. Title:</a:t>
            </a:r>
            <a:r>
              <a:rPr lang="en-US" sz="1600" dirty="0">
                <a:latin typeface="Times New Roman" panose="02020603050405020304" pitchFamily="18" charset="0"/>
                <a:cs typeface="Times New Roman" panose="02020603050405020304" pitchFamily="18" charset="0"/>
              </a:rPr>
              <a:t> LSTM-Based Predictive Maintenance for Industrial Equipment Health Monitoring</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Jennifer M. Lawson, Mark D. Evans, Samuel K. Richardson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2019</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cs typeface="Times New Roman" panose="02020603050405020304" pitchFamily="18" charset="0"/>
              </a:rPr>
              <a:t> This study explores the application of Long Short-Term Memory (LSTM) networks for predictive maintenance in industrial systems. The authors demonstrate how LSTM networks, known for their capability to handle time-series data, effectively predict machinery failures by analyzing equipment performance trends over time. The paper highlights that the LSTM-based model outperforms traditional machine learning methods in predicting remaining useful life (RUL) and minimizing downtime. The results indicate that LSTM models are particularly effective for systems requiring real-time condition monitoring and early failure detection.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205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605753-006A-3F63-58D8-CD12C3A3FA9A}"/>
              </a:ext>
            </a:extLst>
          </p:cNvPr>
          <p:cNvSpPr>
            <a:spLocks noGrp="1"/>
          </p:cNvSpPr>
          <p:nvPr>
            <p:ph idx="1"/>
          </p:nvPr>
        </p:nvSpPr>
        <p:spPr>
          <a:xfrm>
            <a:off x="838200" y="1456916"/>
            <a:ext cx="10515600" cy="4351338"/>
          </a:xfrm>
        </p:spPr>
        <p:txBody>
          <a:bodyPr>
            <a:normAutofit/>
          </a:bodyPr>
          <a:lstStyle/>
          <a:p>
            <a:pPr marL="0" indent="0">
              <a:lnSpc>
                <a:spcPct val="150000"/>
              </a:lnSpc>
              <a:buNone/>
            </a:pPr>
            <a:r>
              <a:rPr lang="en-US" sz="1600" b="1" dirty="0">
                <a:latin typeface="Times New Roman" panose="02020603050405020304" pitchFamily="18" charset="0"/>
                <a:cs typeface="Times New Roman" panose="02020603050405020304" pitchFamily="18" charset="0"/>
              </a:rPr>
              <a:t>3. Title:</a:t>
            </a:r>
            <a:r>
              <a:rPr lang="en-US" sz="1600" dirty="0">
                <a:latin typeface="Times New Roman" panose="02020603050405020304" pitchFamily="18" charset="0"/>
                <a:cs typeface="Times New Roman" panose="02020603050405020304" pitchFamily="18" charset="0"/>
              </a:rPr>
              <a:t> Predictive Maintenance Using Convolutional Neural Networks in Industrial Systems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Emily R. Johnson, Thomas L. Baker, Daniel F. Morgan</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2021</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cs typeface="Times New Roman" panose="02020603050405020304" pitchFamily="18" charset="0"/>
              </a:rPr>
              <a:t> This research investigates the use of Convolutional Neural Networks (CNNs) for predictive maintenance by analyzing visual inspection data from industrial equipment. The study emphasizes how CNNs can automatically extract features from image data, such as wear and tear patterns, enabling early fault detection. The authors highlight that integrating CNNs into predictive maintenance systems improves detection accuracy and reduces false positives. The findings show that this approach is particularly useful for industries that rely on visual inspections, such as manufacturing and transportation.</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1304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36E6A-6364-0040-3066-0704EBC82E7F}"/>
              </a:ext>
            </a:extLst>
          </p:cNvPr>
          <p:cNvSpPr>
            <a:spLocks noGrp="1"/>
          </p:cNvSpPr>
          <p:nvPr>
            <p:ph idx="1"/>
          </p:nvPr>
        </p:nvSpPr>
        <p:spPr>
          <a:xfrm>
            <a:off x="838200" y="1471664"/>
            <a:ext cx="10515600" cy="4351338"/>
          </a:xfrm>
        </p:spPr>
        <p:txBody>
          <a:bodyPr>
            <a:normAutofit/>
          </a:bodyPr>
          <a:lstStyle/>
          <a:p>
            <a:pPr marL="0" indent="0">
              <a:lnSpc>
                <a:spcPct val="150000"/>
              </a:lnSpc>
              <a:buNone/>
            </a:pPr>
            <a:r>
              <a:rPr lang="en-US" sz="1600" b="1" dirty="0">
                <a:latin typeface="Times New Roman" panose="02020603050405020304" pitchFamily="18" charset="0"/>
                <a:cs typeface="Times New Roman" panose="02020603050405020304" pitchFamily="18" charset="0"/>
              </a:rPr>
              <a:t>4. Title:</a:t>
            </a:r>
            <a:r>
              <a:rPr lang="en-US" sz="1600" dirty="0">
                <a:latin typeface="Times New Roman" panose="02020603050405020304" pitchFamily="18" charset="0"/>
                <a:cs typeface="Times New Roman" panose="02020603050405020304" pitchFamily="18" charset="0"/>
              </a:rPr>
              <a:t> Deep Autoencoders for Anomaly Detection in Predictive Maintenance Applications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Olivia J. Adams, Robert T. Green, Hannah L. Lewis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2020</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cs typeface="Times New Roman" panose="02020603050405020304" pitchFamily="18" charset="0"/>
              </a:rPr>
              <a:t> This study focuses on the use of deep autoencoders for anomaly detection in predictive maintenance systems. The authors demonstrate how autoencoders can learn the normal operating behavior of machinery and effectively identify deviations that indicate potential failures. The research highlights that deep autoencoders are particularly effective in handling high-dimensional industrial data, reducing the need for manual feature engineering. The results show that this method can detect faults earlier than traditional approaches, leading to reduced maintenance costs and improved operational efficiency.</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8193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CA4A28-67AD-84B1-8332-55A0360DEB77}"/>
              </a:ext>
            </a:extLst>
          </p:cNvPr>
          <p:cNvSpPr>
            <a:spLocks noGrp="1"/>
          </p:cNvSpPr>
          <p:nvPr>
            <p:ph idx="1"/>
          </p:nvPr>
        </p:nvSpPr>
        <p:spPr>
          <a:xfrm>
            <a:off x="838200" y="1412671"/>
            <a:ext cx="10515600" cy="4351338"/>
          </a:xfrm>
        </p:spPr>
        <p:txBody>
          <a:bodyPr>
            <a:normAutofit/>
          </a:bodyPr>
          <a:lstStyle/>
          <a:p>
            <a:pPr marL="0" indent="0">
              <a:lnSpc>
                <a:spcPct val="150000"/>
              </a:lnSpc>
              <a:buNone/>
            </a:pPr>
            <a:r>
              <a:rPr lang="en-US" sz="1600" b="1" dirty="0">
                <a:latin typeface="Times New Roman" panose="02020603050405020304" pitchFamily="18" charset="0"/>
                <a:cs typeface="Times New Roman" panose="02020603050405020304" pitchFamily="18" charset="0"/>
              </a:rPr>
              <a:t>5. Title:</a:t>
            </a:r>
            <a:r>
              <a:rPr lang="en-US" sz="1600" dirty="0">
                <a:latin typeface="Times New Roman" panose="02020603050405020304" pitchFamily="18" charset="0"/>
                <a:cs typeface="Times New Roman" panose="02020603050405020304" pitchFamily="18" charset="0"/>
              </a:rPr>
              <a:t> A Deep Reinforcement Learning Framework for Predictive Maintenance in Smart Manufacturing</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Author:</a:t>
            </a:r>
            <a:r>
              <a:rPr lang="en-US" sz="1600" dirty="0">
                <a:latin typeface="Times New Roman" panose="02020603050405020304" pitchFamily="18" charset="0"/>
                <a:cs typeface="Times New Roman" panose="02020603050405020304" pitchFamily="18" charset="0"/>
              </a:rPr>
              <a:t> Michael S. Reed, Laura P. Bennett, Anthony J. Hughes</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Year:</a:t>
            </a:r>
            <a:r>
              <a:rPr lang="en-US" sz="1600" dirty="0">
                <a:latin typeface="Times New Roman" panose="02020603050405020304" pitchFamily="18" charset="0"/>
                <a:cs typeface="Times New Roman" panose="02020603050405020304" pitchFamily="18" charset="0"/>
              </a:rPr>
              <a:t> 2022</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Description:</a:t>
            </a:r>
            <a:r>
              <a:rPr lang="en-US" sz="1600" dirty="0">
                <a:latin typeface="Times New Roman" panose="02020603050405020304" pitchFamily="18" charset="0"/>
                <a:cs typeface="Times New Roman" panose="02020603050405020304" pitchFamily="18" charset="0"/>
              </a:rPr>
              <a:t> This paper proposes a predictive maintenance system based on deep reinforcement learning (DRL) for smart manufacturing environments. The study highlights how DRL can optimize maintenance scheduling by learning from interactions with the industrial environment. The authors discuss the integration of DRL with IoT-enabled systems for real-time data collection and decision-making. The results demonstrate that using deep reinforcement learning significantly improves equipment reliability and reduces downtime by making intelligent, data-driven maintenance decisions in dynamic industrial settings.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6051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57F0-DD4F-3B7A-1A86-9526A8056990}"/>
              </a:ext>
            </a:extLst>
          </p:cNvPr>
          <p:cNvSpPr>
            <a:spLocks noGrp="1"/>
          </p:cNvSpPr>
          <p:nvPr>
            <p:ph type="title"/>
          </p:nvPr>
        </p:nvSpPr>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PROBLEM</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IDENTIFICATION</a:t>
            </a:r>
          </a:p>
        </p:txBody>
      </p:sp>
      <p:sp>
        <p:nvSpPr>
          <p:cNvPr id="3" name="Content Placeholder 2">
            <a:extLst>
              <a:ext uri="{FF2B5EF4-FFF2-40B4-BE49-F238E27FC236}">
                <a16:creationId xmlns:a16="http://schemas.microsoft.com/office/drawing/2014/main" id="{2A3F2B64-D406-9EE3-B9EA-3BB46AB8B2D6}"/>
              </a:ext>
            </a:extLst>
          </p:cNvPr>
          <p:cNvSpPr>
            <a:spLocks noGrp="1"/>
          </p:cNvSpPr>
          <p:nvPr>
            <p:ph idx="1"/>
          </p:nvPr>
        </p:nvSpPr>
        <p:spPr>
          <a:xfrm>
            <a:off x="838200" y="1327356"/>
            <a:ext cx="10515600" cy="5309418"/>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	With the rapid expansion of urban spaces and the increasing reliance on surveillance systems for public safety, the need for effective violence detection in real-time has become critical. Traditional surveillance systems depend heavily on human operators to monitor live video feeds and identify unusual or violent incidents. However, this approach has significant limitations, as human attention tends to diminish over time, especially when required to monitor multiple screens simultaneously for extended periods. This can lead to delayed responses or missed incidents, compromising the safety and security of the monitored areas.</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Moreover, the complexity of detecting violent behavior through surveillance footage is heightened by various external factors, such as varying lighting conditions, camera angles, crowded environments, and occlusions caused by people or objects obstructing the view. These challenges make it difficult for even the most experienced human operators to consistently detect violent behavior accurately and promptly. Additionally, false alarms triggered by conventional systems due to misinterpretation of non-violent actions further reduce their efficiency and reliability.</a:t>
            </a:r>
          </a:p>
        </p:txBody>
      </p:sp>
    </p:spTree>
    <p:extLst>
      <p:ext uri="{BB962C8B-B14F-4D97-AF65-F5344CB8AC3E}">
        <p14:creationId xmlns:p14="http://schemas.microsoft.com/office/powerpoint/2010/main" val="3098417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EF5E-46B8-5480-BCE1-75CFE40BD6E3}"/>
              </a:ext>
            </a:extLst>
          </p:cNvPr>
          <p:cNvSpPr>
            <a:spLocks noGrp="1"/>
          </p:cNvSpPr>
          <p:nvPr>
            <p:ph type="title"/>
          </p:nvPr>
        </p:nvSpPr>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PROBLEM</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IDENTIFICATION</a:t>
            </a:r>
            <a:endParaRPr lang="en-IN" sz="2400" dirty="0">
              <a:solidFill>
                <a:srgbClr val="FF0000"/>
              </a:solidFill>
            </a:endParaRPr>
          </a:p>
        </p:txBody>
      </p:sp>
      <p:sp>
        <p:nvSpPr>
          <p:cNvPr id="3" name="Content Placeholder 2">
            <a:extLst>
              <a:ext uri="{FF2B5EF4-FFF2-40B4-BE49-F238E27FC236}">
                <a16:creationId xmlns:a16="http://schemas.microsoft.com/office/drawing/2014/main" id="{CCC9DFA8-85DE-6958-207B-64244A2A4D19}"/>
              </a:ext>
            </a:extLst>
          </p:cNvPr>
          <p:cNvSpPr>
            <a:spLocks noGrp="1"/>
          </p:cNvSpPr>
          <p:nvPr>
            <p:ph idx="1"/>
          </p:nvPr>
        </p:nvSpPr>
        <p:spPr>
          <a:xfrm>
            <a:off x="838200" y="1690688"/>
            <a:ext cx="10515600" cy="4457188"/>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The lack of an automated, accurate, and real-time solution for violence detection limits the effectiveness of existing surveillance infrastructure. Current systems are primarily reactive rather than proactive, meaning they often fail to prevent violent incidents or mitigate their impact in a timely manner. There is a pressing need for intelligent systems that can autonomously monitor surveillance footage and identify potential threats before they escalate, providing security personnel with real-time alerts to enable quicker intervention.</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This project seeks to address these limitations by developing a real-time violence detection system using deep learning techniques such as Long Short-Term Memory (LSTM) and Bidirectional LSTM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with an attention mechanism. These models are designed to analyze video sequences effectively, capturing temporal patterns that signify violent behavior. By training the system on diverse datasets that include real-world surveillance footage and publicly available videos, the project aims to build a robust and scalable solution that can be deployed in various surveillance environments, ultimately enhancing public safety and security.</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2791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A29AA-1BB0-FE10-A8E2-4BB39706A253}"/>
              </a:ext>
            </a:extLst>
          </p:cNvPr>
          <p:cNvSpPr>
            <a:spLocks noGrp="1"/>
          </p:cNvSpPr>
          <p:nvPr>
            <p:ph type="title"/>
          </p:nvPr>
        </p:nvSpPr>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AIM</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OF</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THE</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PROJECT</a:t>
            </a:r>
          </a:p>
        </p:txBody>
      </p:sp>
      <p:sp>
        <p:nvSpPr>
          <p:cNvPr id="3" name="Content Placeholder 2">
            <a:extLst>
              <a:ext uri="{FF2B5EF4-FFF2-40B4-BE49-F238E27FC236}">
                <a16:creationId xmlns:a16="http://schemas.microsoft.com/office/drawing/2014/main" id="{F15004D4-7D04-015E-0206-681BA52A8AD6}"/>
              </a:ext>
            </a:extLst>
          </p:cNvPr>
          <p:cNvSpPr>
            <a:spLocks noGrp="1"/>
          </p:cNvSpPr>
          <p:nvPr>
            <p:ph idx="1"/>
          </p:nvPr>
        </p:nvSpPr>
        <p:spPr>
          <a:xfrm>
            <a:off x="838200" y="1511915"/>
            <a:ext cx="10515600" cy="5019829"/>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	The primary aim of this project is to develop a fast and accurate automated violence detection system that can analyze surveillance videos in real-time and detect violent incidents with minimal false alarms. The system is designed to reduce human intervention in monitoring, allowing for quicker responses and enhancing public safety.</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By utilizing advanced deep learning models such as LSTM and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with an attention layer, the project aims to enhance detection accuracy and reduce latency. This solution not only improves upon traditional surveillance systems but also demonstrates scalability for large surveillance networks, making it suitable for deployment in public spaces, commercial establishments, and private security systems.</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3262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32010-1FC5-320E-8CFB-2D2779A53FB3}"/>
              </a:ext>
            </a:extLst>
          </p:cNvPr>
          <p:cNvSpPr>
            <a:spLocks noGrp="1"/>
          </p:cNvSpPr>
          <p:nvPr>
            <p:ph type="title"/>
          </p:nvPr>
        </p:nvSpPr>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D4B9F005-622C-F827-84D1-134334581218}"/>
              </a:ext>
            </a:extLst>
          </p:cNvPr>
          <p:cNvSpPr>
            <a:spLocks noGrp="1"/>
          </p:cNvSpPr>
          <p:nvPr>
            <p:ph idx="1"/>
          </p:nvPr>
        </p:nvSpPr>
        <p:spPr>
          <a:xfrm>
            <a:off x="838200" y="1578077"/>
            <a:ext cx="10515600" cy="4914798"/>
          </a:xfrm>
        </p:spPr>
        <p:txBody>
          <a:bodyPr>
            <a:norm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develop an automated system for detecting violent incidents from surveillance footage using advanced machine learning techniques.</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implement and compare the performance of LSTM and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models with an attention mechanism to improve detection accuracy.</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create a diverse dataset combining real surveillance footage and publicly available videos from platforms like YouTube and Facebook.</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conduct comprehensive testing on datasets such as the Hockey Fight data</a:t>
            </a:r>
            <a:r>
              <a:rPr lang="en-US" sz="1600" b="1" dirty="0">
                <a:latin typeface="Times New Roman" panose="02020603050405020304" pitchFamily="18" charset="0"/>
                <a:cs typeface="Times New Roman" panose="02020603050405020304" pitchFamily="18" charset="0"/>
              </a:rPr>
              <a:t>set</a:t>
            </a:r>
            <a:r>
              <a:rPr lang="en-US" sz="1600" dirty="0">
                <a:latin typeface="Times New Roman" panose="02020603050405020304" pitchFamily="18" charset="0"/>
                <a:cs typeface="Times New Roman" panose="02020603050405020304" pitchFamily="18" charset="0"/>
              </a:rPr>
              <a:t> to validate the effectiveness of the models in real-world scenarios.</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To reduce reliance on manual monitoring by providing real-time alerts for faster intervention in violent situations.</a:t>
            </a:r>
          </a:p>
        </p:txBody>
      </p:sp>
    </p:spTree>
    <p:extLst>
      <p:ext uri="{BB962C8B-B14F-4D97-AF65-F5344CB8AC3E}">
        <p14:creationId xmlns:p14="http://schemas.microsoft.com/office/powerpoint/2010/main" val="111448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5B6E8-8644-681B-FA8B-197FE19383BB}"/>
              </a:ext>
            </a:extLst>
          </p:cNvPr>
          <p:cNvSpPr>
            <a:spLocks noGrp="1"/>
          </p:cNvSpPr>
          <p:nvPr>
            <p:ph type="title"/>
          </p:nvPr>
        </p:nvSpPr>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PROPOSED</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METHODOLOGY</a:t>
            </a:r>
            <a:endParaRPr lang="en-IN" sz="2400" dirty="0">
              <a:solidFill>
                <a:srgbClr val="FF0000"/>
              </a:solidFill>
            </a:endParaRPr>
          </a:p>
        </p:txBody>
      </p:sp>
      <p:sp>
        <p:nvSpPr>
          <p:cNvPr id="3" name="Content Placeholder 2">
            <a:extLst>
              <a:ext uri="{FF2B5EF4-FFF2-40B4-BE49-F238E27FC236}">
                <a16:creationId xmlns:a16="http://schemas.microsoft.com/office/drawing/2014/main" id="{F308A8C9-FAEE-4797-0395-C0F78E22515A}"/>
              </a:ext>
            </a:extLst>
          </p:cNvPr>
          <p:cNvSpPr>
            <a:spLocks noGrp="1"/>
          </p:cNvSpPr>
          <p:nvPr>
            <p:ph idx="1"/>
          </p:nvPr>
        </p:nvSpPr>
        <p:spPr>
          <a:xfrm>
            <a:off x="838200" y="1371600"/>
            <a:ext cx="10515600" cy="5247861"/>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This system is to develop a real-time, fast, and accurate automated violence detection system that can analyze surveillance videos efficiently. The system will utilize a combination of deep learning </a:t>
            </a:r>
            <a:r>
              <a:rPr lang="en-US" sz="1600" dirty="0" err="1">
                <a:latin typeface="Times New Roman" panose="02020603050405020304" pitchFamily="18" charset="0"/>
                <a:cs typeface="Times New Roman" panose="02020603050405020304" pitchFamily="18" charset="0"/>
              </a:rPr>
              <a:t>models,Those</a:t>
            </a:r>
            <a:r>
              <a:rPr lang="en-US" sz="1600" dirty="0">
                <a:latin typeface="Times New Roman" panose="02020603050405020304" pitchFamily="18" charset="0"/>
                <a:cs typeface="Times New Roman" panose="02020603050405020304" pitchFamily="18" charset="0"/>
              </a:rPr>
              <a:t> are YOLO (You Only Look Once) for object detection, alongside LSTM (Long Short-Term Memory) or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(Bidirectional Long Short-Term Memory) networks enhanced with an attention layer to analyze the sequence of video frames for violence detection. This approach will minimize false alarms while maximizing detection accuracy and speed.</a:t>
            </a:r>
          </a:p>
          <a:p>
            <a:pPr algn="just">
              <a:lnSpc>
                <a:spcPct val="150000"/>
              </a:lnSpc>
            </a:pPr>
            <a:r>
              <a:rPr lang="en-US" sz="1600" dirty="0">
                <a:latin typeface="Times New Roman" panose="02020603050405020304" pitchFamily="18" charset="0"/>
                <a:cs typeface="Times New Roman" panose="02020603050405020304" pitchFamily="18" charset="0"/>
              </a:rPr>
              <a:t>The system is expected to work in real-time, processing video frames as they are captured by surveillance cameras, thereby enabling immediate identification of violent incidents, such as physical fights, assaults, or any other forms of aggression. This will allow authorities or security personnel to act quickly and efficiently, reducing human intervention in monitoring.</a:t>
            </a:r>
          </a:p>
          <a:p>
            <a:endParaRPr lang="en-IN" dirty="0"/>
          </a:p>
        </p:txBody>
      </p:sp>
    </p:spTree>
    <p:extLst>
      <p:ext uri="{BB962C8B-B14F-4D97-AF65-F5344CB8AC3E}">
        <p14:creationId xmlns:p14="http://schemas.microsoft.com/office/powerpoint/2010/main" val="4064223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72454-BF7C-35C7-1B89-B749167CE3DD}"/>
              </a:ext>
            </a:extLst>
          </p:cNvPr>
          <p:cNvSpPr>
            <a:spLocks noGrp="1"/>
          </p:cNvSpPr>
          <p:nvPr>
            <p:ph type="title"/>
          </p:nvPr>
        </p:nvSpPr>
        <p:spPr>
          <a:xfrm>
            <a:off x="838200" y="208269"/>
            <a:ext cx="10515600" cy="1325563"/>
          </a:xfrm>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PROPOSED</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34CD278B-0FF0-3BB6-9501-CBF3E034F4CF}"/>
              </a:ext>
            </a:extLst>
          </p:cNvPr>
          <p:cNvSpPr>
            <a:spLocks noGrp="1"/>
          </p:cNvSpPr>
          <p:nvPr>
            <p:ph idx="1"/>
          </p:nvPr>
        </p:nvSpPr>
        <p:spPr>
          <a:xfrm>
            <a:off x="838200" y="1371600"/>
            <a:ext cx="10515600" cy="5486400"/>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The methodology for this project follows a structured pipeline for effective violence detection:</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Data Collection:</a:t>
            </a:r>
            <a:r>
              <a:rPr lang="en-US" sz="1600" dirty="0">
                <a:latin typeface="Times New Roman" panose="02020603050405020304" pitchFamily="18" charset="0"/>
                <a:cs typeface="Times New Roman" panose="02020603050405020304" pitchFamily="18" charset="0"/>
              </a:rPr>
              <a:t> A diverse dataset was curated using surveillance camera footage and publicly available videos from platforms like YouTube and Facebook. The dataset includes violent and non-violent incidents across various environments to enhance model generalization.</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Data Preprocessing:</a:t>
            </a:r>
            <a:r>
              <a:rPr lang="en-US" sz="1600" dirty="0">
                <a:latin typeface="Times New Roman" panose="02020603050405020304" pitchFamily="18" charset="0"/>
                <a:cs typeface="Times New Roman" panose="02020603050405020304" pitchFamily="18" charset="0"/>
              </a:rPr>
              <a:t> The video data undergoes preprocessing steps, including frame extraction, resizing, and normalization. Additionally, irrelevant frames are filtered out, and features such as motion patterns and body posture are extracted to enhance detection capability.</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Feature Extraction:</a:t>
            </a:r>
            <a:r>
              <a:rPr lang="en-US" sz="1600" dirty="0">
                <a:latin typeface="Times New Roman" panose="02020603050405020304" pitchFamily="18" charset="0"/>
                <a:cs typeface="Times New Roman" panose="02020603050405020304" pitchFamily="18" charset="0"/>
              </a:rPr>
              <a:t> CNN-based techniques are applied for feature extraction from video frames. These features help identify relevant spatial information required for accurate classification.</a:t>
            </a:r>
          </a:p>
          <a:p>
            <a:pPr algn="just">
              <a:lnSpc>
                <a:spcPct val="150000"/>
              </a:lnSpc>
              <a:buFont typeface="+mj-lt"/>
              <a:buAutoNum type="arabicPeriod"/>
            </a:pPr>
            <a:r>
              <a:rPr lang="en-US" sz="1600" b="1" dirty="0">
                <a:latin typeface="Times New Roman" panose="02020603050405020304" pitchFamily="18" charset="0"/>
                <a:cs typeface="Times New Roman" panose="02020603050405020304" pitchFamily="18" charset="0"/>
              </a:rPr>
              <a:t>Model Development:</a:t>
            </a:r>
            <a:r>
              <a:rPr lang="en-US" sz="1600" dirty="0">
                <a:latin typeface="Times New Roman" panose="02020603050405020304" pitchFamily="18" charset="0"/>
                <a:cs typeface="Times New Roman" panose="02020603050405020304" pitchFamily="18" charset="0"/>
              </a:rPr>
              <a:t> Two models—LSTM and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—are developed also Yolo, both equipped with an attention mechanism to focus on critical frames within video sequences.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is particularly effective as it considers both past and future context, improving detection accuracy.</a:t>
            </a:r>
          </a:p>
        </p:txBody>
      </p:sp>
    </p:spTree>
    <p:extLst>
      <p:ext uri="{BB962C8B-B14F-4D97-AF65-F5344CB8AC3E}">
        <p14:creationId xmlns:p14="http://schemas.microsoft.com/office/powerpoint/2010/main" val="1620578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2DC730-AF4B-92A7-CB82-4B8188925B14}"/>
              </a:ext>
            </a:extLst>
          </p:cNvPr>
          <p:cNvSpPr>
            <a:spLocks noGrp="1"/>
          </p:cNvSpPr>
          <p:nvPr>
            <p:ph idx="1"/>
          </p:nvPr>
        </p:nvSpPr>
        <p:spPr>
          <a:xfrm>
            <a:off x="838200" y="737420"/>
            <a:ext cx="10515600" cy="5796116"/>
          </a:xfrm>
        </p:spPr>
        <p:txBody>
          <a:bodyPr>
            <a:normAutofit/>
          </a:bodyPr>
          <a:lstStyle/>
          <a:p>
            <a:pPr marL="342900" indent="-342900" algn="just">
              <a:lnSpc>
                <a:spcPct val="150000"/>
              </a:lnSpc>
              <a:buFont typeface="+mj-lt"/>
              <a:buAutoNum type="arabicPeriod" startAt="5"/>
            </a:pPr>
            <a:r>
              <a:rPr lang="en-US" sz="1600" b="1" dirty="0">
                <a:latin typeface="Times New Roman" panose="02020603050405020304" pitchFamily="18" charset="0"/>
                <a:cs typeface="Times New Roman" panose="02020603050405020304" pitchFamily="18" charset="0"/>
              </a:rPr>
              <a:t>Model Training and Testing:</a:t>
            </a:r>
            <a:r>
              <a:rPr lang="en-US" sz="1600" dirty="0">
                <a:latin typeface="Times New Roman" panose="02020603050405020304" pitchFamily="18" charset="0"/>
                <a:cs typeface="Times New Roman" panose="02020603050405020304" pitchFamily="18" charset="0"/>
              </a:rPr>
              <a:t> The models are trained on labeled data, and their performance is evaluated using metrics such as accuracy, precision, recall, and F1-score. Tests are conducted using the Hockey Fight dataset and other relevant video datasets.</a:t>
            </a:r>
          </a:p>
          <a:p>
            <a:pPr marL="342900" indent="-342900" algn="just">
              <a:lnSpc>
                <a:spcPct val="150000"/>
              </a:lnSpc>
              <a:buFont typeface="+mj-lt"/>
              <a:buAutoNum type="arabicPeriod" startAt="5"/>
            </a:pPr>
            <a:r>
              <a:rPr lang="en-US" sz="1600" b="1" dirty="0">
                <a:latin typeface="Times New Roman" panose="02020603050405020304" pitchFamily="18" charset="0"/>
                <a:cs typeface="Times New Roman" panose="02020603050405020304" pitchFamily="18" charset="0"/>
              </a:rPr>
              <a:t>Deployment:</a:t>
            </a:r>
            <a:r>
              <a:rPr lang="en-US" sz="1600" dirty="0">
                <a:latin typeface="Times New Roman" panose="02020603050405020304" pitchFamily="18" charset="0"/>
                <a:cs typeface="Times New Roman" panose="02020603050405020304" pitchFamily="18" charset="0"/>
              </a:rPr>
              <a:t> The trained model is integrated into a real-time surveillance system capable of issuing alerts upon detecting violent actions, facilitating quicker intervention by security personnel.</a:t>
            </a:r>
          </a:p>
        </p:txBody>
      </p:sp>
    </p:spTree>
    <p:extLst>
      <p:ext uri="{BB962C8B-B14F-4D97-AF65-F5344CB8AC3E}">
        <p14:creationId xmlns:p14="http://schemas.microsoft.com/office/powerpoint/2010/main" val="1647594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6F515-F8D6-EED1-F481-9477502BD4C8}"/>
              </a:ext>
            </a:extLst>
          </p:cNvPr>
          <p:cNvSpPr>
            <a:spLocks noGrp="1"/>
          </p:cNvSpPr>
          <p:nvPr>
            <p:ph idx="1"/>
          </p:nvPr>
        </p:nvSpPr>
        <p:spPr>
          <a:xfrm>
            <a:off x="589935" y="545690"/>
            <a:ext cx="10972800" cy="5947185"/>
          </a:xfrm>
        </p:spPr>
        <p:txBody>
          <a:bodyPr>
            <a:normAutofit/>
          </a:bodyPr>
          <a:lstStyle/>
          <a:p>
            <a:pPr marL="0" indent="0">
              <a:buNone/>
            </a:pPr>
            <a:r>
              <a:rPr lang="en-US" sz="2400" b="1" dirty="0">
                <a:solidFill>
                  <a:srgbClr val="FF0000"/>
                </a:solidFill>
                <a:latin typeface="Times New Roman" panose="02020603050405020304" pitchFamily="18" charset="0"/>
                <a:cs typeface="Times New Roman" panose="02020603050405020304" pitchFamily="18" charset="0"/>
              </a:rPr>
              <a:t>SYSTEM</a:t>
            </a:r>
            <a:r>
              <a:rPr lang="en-US" sz="2400" b="1"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ARCHITECTURE</a:t>
            </a:r>
            <a:endParaRPr lang="en-IN" sz="2400" dirty="0">
              <a:solidFill>
                <a:srgbClr val="FF0000"/>
              </a:solidFill>
            </a:endParaRPr>
          </a:p>
        </p:txBody>
      </p:sp>
      <p:sp>
        <p:nvSpPr>
          <p:cNvPr id="4" name="Rectangle 3">
            <a:extLst>
              <a:ext uri="{FF2B5EF4-FFF2-40B4-BE49-F238E27FC236}">
                <a16:creationId xmlns:a16="http://schemas.microsoft.com/office/drawing/2014/main" id="{39F5235C-1650-E9EF-F120-D76886F3EB93}"/>
              </a:ext>
            </a:extLst>
          </p:cNvPr>
          <p:cNvSpPr/>
          <p:nvPr/>
        </p:nvSpPr>
        <p:spPr>
          <a:xfrm>
            <a:off x="1179869" y="2168012"/>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DATA COLLECTION</a:t>
            </a:r>
            <a:endParaRPr lang="en-IN" sz="16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A47AE086-D2DA-8D07-4905-AD6EE610046E}"/>
              </a:ext>
            </a:extLst>
          </p:cNvPr>
          <p:cNvSpPr/>
          <p:nvPr/>
        </p:nvSpPr>
        <p:spPr>
          <a:xfrm>
            <a:off x="4975122" y="2168012"/>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DATA PREPROCESSING</a:t>
            </a:r>
            <a:endParaRPr lang="en-IN" sz="16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84645DED-6D55-8576-7B12-C1C0C868919B}"/>
              </a:ext>
            </a:extLst>
          </p:cNvPr>
          <p:cNvSpPr/>
          <p:nvPr/>
        </p:nvSpPr>
        <p:spPr>
          <a:xfrm>
            <a:off x="8767914" y="2168012"/>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EDA</a:t>
            </a:r>
            <a:endParaRPr lang="en-IN" sz="16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C75AF75C-92F8-549B-ADEC-378F262BE36E}"/>
              </a:ext>
            </a:extLst>
          </p:cNvPr>
          <p:cNvSpPr/>
          <p:nvPr/>
        </p:nvSpPr>
        <p:spPr>
          <a:xfrm>
            <a:off x="8767914" y="3695162"/>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MODEL IMPLEMENTATION</a:t>
            </a:r>
            <a:endParaRPr lang="en-IN"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E34905CF-E223-6017-7151-2B852F56FF69}"/>
              </a:ext>
            </a:extLst>
          </p:cNvPr>
          <p:cNvSpPr/>
          <p:nvPr/>
        </p:nvSpPr>
        <p:spPr>
          <a:xfrm>
            <a:off x="4975121" y="3695163"/>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CNN</a:t>
            </a:r>
            <a:endParaRPr lang="en-IN"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1CFC5C40-FD9A-1AC6-934C-583DE6DB9A1F}"/>
              </a:ext>
            </a:extLst>
          </p:cNvPr>
          <p:cNvSpPr/>
          <p:nvPr/>
        </p:nvSpPr>
        <p:spPr>
          <a:xfrm>
            <a:off x="1179869" y="3695162"/>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a:latin typeface="Times New Roman" panose="02020603050405020304" pitchFamily="18" charset="0"/>
                <a:cs typeface="Times New Roman" panose="02020603050405020304" pitchFamily="18" charset="0"/>
              </a:rPr>
              <a:t>yolo</a:t>
            </a:r>
            <a:endParaRPr lang="en-IN" sz="16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85D3D84F-451E-5C97-9DA2-F7311EFA44B4}"/>
              </a:ext>
            </a:extLst>
          </p:cNvPr>
          <p:cNvSpPr/>
          <p:nvPr/>
        </p:nvSpPr>
        <p:spPr>
          <a:xfrm>
            <a:off x="1179869" y="5222311"/>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API MODEL</a:t>
            </a:r>
            <a:endParaRPr lang="en-IN" sz="16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DD32EA4B-7B5C-1587-2851-A850A9BAE142}"/>
              </a:ext>
            </a:extLst>
          </p:cNvPr>
          <p:cNvSpPr/>
          <p:nvPr/>
        </p:nvSpPr>
        <p:spPr>
          <a:xfrm>
            <a:off x="4975121" y="5222314"/>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INPUT DATA</a:t>
            </a:r>
            <a:endParaRPr lang="en-IN" sz="16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6F90E6ED-5509-4FBB-B8F3-D93A8251D35F}"/>
              </a:ext>
            </a:extLst>
          </p:cNvPr>
          <p:cNvSpPr/>
          <p:nvPr/>
        </p:nvSpPr>
        <p:spPr>
          <a:xfrm>
            <a:off x="8767914" y="5222312"/>
            <a:ext cx="2241755" cy="94389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Times New Roman" panose="02020603050405020304" pitchFamily="18" charset="0"/>
                <a:cs typeface="Times New Roman" panose="02020603050405020304" pitchFamily="18" charset="0"/>
              </a:rPr>
              <a:t>PREDICTION RESULT</a:t>
            </a:r>
            <a:endParaRPr lang="en-IN" sz="1600" dirty="0">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902A5B45-EDF4-BEC8-37DE-3B1C444CFE51}"/>
              </a:ext>
            </a:extLst>
          </p:cNvPr>
          <p:cNvCxnSpPr>
            <a:stCxn id="4" idx="3"/>
            <a:endCxn id="5" idx="1"/>
          </p:cNvCxnSpPr>
          <p:nvPr/>
        </p:nvCxnSpPr>
        <p:spPr>
          <a:xfrm>
            <a:off x="3421624" y="2639961"/>
            <a:ext cx="15534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1D162EBF-3EED-2FCD-A07F-344FAF6AF404}"/>
              </a:ext>
            </a:extLst>
          </p:cNvPr>
          <p:cNvCxnSpPr>
            <a:stCxn id="5" idx="3"/>
          </p:cNvCxnSpPr>
          <p:nvPr/>
        </p:nvCxnSpPr>
        <p:spPr>
          <a:xfrm flipV="1">
            <a:off x="7216877" y="2639960"/>
            <a:ext cx="155103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10BC7279-BD09-AD79-E75A-A65FA59EF9C7}"/>
              </a:ext>
            </a:extLst>
          </p:cNvPr>
          <p:cNvCxnSpPr>
            <a:endCxn id="7" idx="0"/>
          </p:cNvCxnSpPr>
          <p:nvPr/>
        </p:nvCxnSpPr>
        <p:spPr>
          <a:xfrm>
            <a:off x="9888791" y="3111908"/>
            <a:ext cx="1" cy="5832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FBF8017-F699-4802-2442-CB4CDE0998F1}"/>
              </a:ext>
            </a:extLst>
          </p:cNvPr>
          <p:cNvCxnSpPr>
            <a:endCxn id="8" idx="3"/>
          </p:cNvCxnSpPr>
          <p:nvPr/>
        </p:nvCxnSpPr>
        <p:spPr>
          <a:xfrm flipH="1">
            <a:off x="7216876" y="4167110"/>
            <a:ext cx="1551037"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59E7AC64-27D1-804A-E833-E3A2D38A7EC4}"/>
              </a:ext>
            </a:extLst>
          </p:cNvPr>
          <p:cNvCxnSpPr/>
          <p:nvPr/>
        </p:nvCxnSpPr>
        <p:spPr>
          <a:xfrm flipH="1" flipV="1">
            <a:off x="3421624" y="4159250"/>
            <a:ext cx="1551038" cy="78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F8E6CEF6-B1B9-A05E-72F5-FBDCAFE570C5}"/>
              </a:ext>
            </a:extLst>
          </p:cNvPr>
          <p:cNvCxnSpPr>
            <a:stCxn id="9" idx="2"/>
            <a:endCxn id="10" idx="0"/>
          </p:cNvCxnSpPr>
          <p:nvPr/>
        </p:nvCxnSpPr>
        <p:spPr>
          <a:xfrm>
            <a:off x="2300747" y="4639059"/>
            <a:ext cx="0" cy="5832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7FE01B7E-1570-3BC4-C5E8-223E5C0D8FB8}"/>
              </a:ext>
            </a:extLst>
          </p:cNvPr>
          <p:cNvCxnSpPr>
            <a:stCxn id="10" idx="3"/>
          </p:cNvCxnSpPr>
          <p:nvPr/>
        </p:nvCxnSpPr>
        <p:spPr>
          <a:xfrm flipV="1">
            <a:off x="3421624" y="5694259"/>
            <a:ext cx="1551038"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A51452C-9A8A-04DB-F243-55646316018D}"/>
              </a:ext>
            </a:extLst>
          </p:cNvPr>
          <p:cNvCxnSpPr>
            <a:stCxn id="11" idx="3"/>
            <a:endCxn id="12" idx="1"/>
          </p:cNvCxnSpPr>
          <p:nvPr/>
        </p:nvCxnSpPr>
        <p:spPr>
          <a:xfrm flipV="1">
            <a:off x="7216876" y="5694261"/>
            <a:ext cx="1551038"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79779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8C36-663E-8B85-97BE-97FC3F3994AA}"/>
              </a:ext>
            </a:extLst>
          </p:cNvPr>
          <p:cNvSpPr>
            <a:spLocks noGrp="1"/>
          </p:cNvSpPr>
          <p:nvPr>
            <p:ph type="title"/>
          </p:nvPr>
        </p:nvSpPr>
        <p:spPr/>
        <p:txBody>
          <a:bodyPr>
            <a:normAutofit/>
          </a:bodyPr>
          <a:lstStyle/>
          <a:p>
            <a:r>
              <a:rPr lang="en-IN" sz="2400" b="1" dirty="0">
                <a:solidFill>
                  <a:srgbClr val="FF0000"/>
                </a:solidFill>
                <a:latin typeface="Times New Roman" panose="02020603050405020304" pitchFamily="18" charset="0"/>
                <a:cs typeface="Times New Roman" panose="02020603050405020304" pitchFamily="18" charset="0"/>
              </a:rPr>
              <a:t>EXPECTED</a:t>
            </a:r>
            <a:r>
              <a:rPr lang="en-IN" sz="2400" b="1"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OUTCOME</a:t>
            </a:r>
          </a:p>
        </p:txBody>
      </p:sp>
      <p:sp>
        <p:nvSpPr>
          <p:cNvPr id="3" name="Content Placeholder 2">
            <a:extLst>
              <a:ext uri="{FF2B5EF4-FFF2-40B4-BE49-F238E27FC236}">
                <a16:creationId xmlns:a16="http://schemas.microsoft.com/office/drawing/2014/main" id="{46165FD8-AB02-76EF-F6E6-C4E9CAC5E8B5}"/>
              </a:ext>
            </a:extLst>
          </p:cNvPr>
          <p:cNvSpPr>
            <a:spLocks noGrp="1"/>
          </p:cNvSpPr>
          <p:nvPr>
            <p:ph idx="1"/>
          </p:nvPr>
        </p:nvSpPr>
        <p:spPr>
          <a:xfrm>
            <a:off x="838200" y="1690688"/>
            <a:ext cx="10515600" cy="4667250"/>
          </a:xfrm>
        </p:spPr>
        <p:txBody>
          <a:bodyPr>
            <a:norm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The expected outcome of this project is the development of an </a:t>
            </a:r>
            <a:r>
              <a:rPr lang="en-US" sz="1100" b="1" dirty="0">
                <a:latin typeface="Times New Roman" panose="02020603050405020304" pitchFamily="18" charset="0"/>
                <a:cs typeface="Times New Roman" panose="02020603050405020304" pitchFamily="18" charset="0"/>
              </a:rPr>
              <a:t>A SMART ANTI-VIOLENCE SYSTEM USING DEEP LEARNING BASED VIDEO SURVEILLANCE</a:t>
            </a:r>
            <a:r>
              <a:rPr lang="en-IN" sz="11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that can accurately identify violent incidents in surveillance footage. By using deep learning techniques such as LSTM and </a:t>
            </a:r>
            <a:r>
              <a:rPr lang="en-US" sz="1600" dirty="0" err="1">
                <a:latin typeface="Times New Roman" panose="02020603050405020304" pitchFamily="18" charset="0"/>
                <a:cs typeface="Times New Roman" panose="02020603050405020304" pitchFamily="18" charset="0"/>
              </a:rPr>
              <a:t>BiLSTM</a:t>
            </a:r>
            <a:r>
              <a:rPr lang="en-US" sz="1600" dirty="0">
                <a:latin typeface="Times New Roman" panose="02020603050405020304" pitchFamily="18" charset="0"/>
                <a:cs typeface="Times New Roman" panose="02020603050405020304" pitchFamily="18" charset="0"/>
              </a:rPr>
              <a:t> with an attention layer, the system will effectively recognize patterns of violent behavior in video sequences.</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This system will help reduce reliance on human monitoring by automatically detecting violent events and generating alerts, allowing security personnel to respond more quickly and efficiently. Additionally, it will improve detection accuracy across various environments, including crowded public spaces and private facilities.</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The project also aims to create a flexible and scalable detection framework that can be adapted to different surveillance settings. This will enhance overall public safety by enabling faster interventions and potentially preventing violent incidents from escalating.</a:t>
            </a:r>
          </a:p>
        </p:txBody>
      </p:sp>
    </p:spTree>
    <p:extLst>
      <p:ext uri="{BB962C8B-B14F-4D97-AF65-F5344CB8AC3E}">
        <p14:creationId xmlns:p14="http://schemas.microsoft.com/office/powerpoint/2010/main" val="4091646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8437-F594-8F48-DF40-8BE7A8486DC9}"/>
              </a:ext>
            </a:extLst>
          </p:cNvPr>
          <p:cNvSpPr>
            <a:spLocks noGrp="1"/>
          </p:cNvSpPr>
          <p:nvPr>
            <p:ph type="title"/>
          </p:nvPr>
        </p:nvSpPr>
        <p:spPr>
          <a:xfrm>
            <a:off x="1074174" y="2766218"/>
            <a:ext cx="10515600" cy="1325563"/>
          </a:xfrm>
        </p:spPr>
        <p:txBody>
          <a:bodyPr/>
          <a:lstStyle/>
          <a:p>
            <a:pPr algn="ctr"/>
            <a:r>
              <a:rPr lang="en-US"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5679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2191</Words>
  <Application>Microsoft Office PowerPoint</Application>
  <PresentationFormat>Widescreen</PresentationFormat>
  <Paragraphs>96</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Times New Roman</vt:lpstr>
      <vt:lpstr>Wingdings</vt:lpstr>
      <vt:lpstr>Office Theme</vt:lpstr>
      <vt:lpstr>PowerPoint Presentation</vt:lpstr>
      <vt:lpstr>PowerPoint Presentation</vt:lpstr>
      <vt:lpstr>INTRODUCTION</vt:lpstr>
      <vt:lpstr>INTRODUCTION</vt:lpstr>
      <vt:lpstr>LITERATURE SURVEY</vt:lpstr>
      <vt:lpstr>PowerPoint Presentation</vt:lpstr>
      <vt:lpstr>PowerPoint Presentation</vt:lpstr>
      <vt:lpstr>PowerPoint Presentation</vt:lpstr>
      <vt:lpstr>PowerPoint Presentation</vt:lpstr>
      <vt:lpstr>PROBLEM IDENTIFICATION</vt:lpstr>
      <vt:lpstr>PROBLEM IDENTIFICATION</vt:lpstr>
      <vt:lpstr>AIM OF THE PROJECT</vt:lpstr>
      <vt:lpstr>OBJECTIVES</vt:lpstr>
      <vt:lpstr>PROPOSED METHODOLOGY</vt:lpstr>
      <vt:lpstr>PROPOSED METHODOLOGY</vt:lpstr>
      <vt:lpstr>PowerPoint Presentation</vt:lpstr>
      <vt:lpstr>PowerPoint Presentation</vt:lpstr>
      <vt:lpstr>EXPECTED OUTCOME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TOWARD FAST AND ACCURATE VIOLENCE DETECTION FOR AUTOMATED VIDEO SURVEILLANCE APPLICATIONS</dc:title>
  <dc:creator>Logeswari Sathish</dc:creator>
  <cp:lastModifiedBy>sanjith e u</cp:lastModifiedBy>
  <cp:revision>17</cp:revision>
  <dcterms:created xsi:type="dcterms:W3CDTF">2025-02-21T14:13:36Z</dcterms:created>
  <dcterms:modified xsi:type="dcterms:W3CDTF">2025-02-24T04:43:37Z</dcterms:modified>
</cp:coreProperties>
</file>